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0">
                <a:solidFill>
                  <a:srgbClr val="1C1810"/>
                </a:solidFill>
                <a:latin typeface="Georgia"/>
              </a:rPr>
              <a:t>The claim isn't the fact.</a:t>
            </a:r>
          </a:p>
          <a:p>
            <a:pPr algn="l">
              <a:spcAft>
                <a:spcPts val="600"/>
              </a:spcAft>
            </a:pPr>
            <a:r>
              <a:rPr sz="4400" b="1">
                <a:solidFill>
                  <a:srgbClr val="A37C1F"/>
                </a:solidFill>
                <a:latin typeface="Georgia"/>
              </a:rPr>
              <a:t>The ledger 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C5342"/>
                </a:solidFill>
                <a:latin typeface="Calibri"/>
              </a:rPr>
              <a:t>Ledger Oracle — an AI agent that checks refund claims against the real payments
ledger before money moves.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C5342"/>
                </a:solidFill>
                <a:latin typeface="Consolas"/>
              </a:rPr>
              <a:t>Razorpay AI Buildathon 2026  ·  Track 02 — AI Risk 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A37C1F"/>
                </a:solidFill>
                <a:latin typeface="Consolas"/>
              </a:rPr>
              <a:t>  ·  LEDGER ORACLE  ·  RAZORPAY AI BUILDATHON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810"/>
                </a:solidFill>
                <a:latin typeface="Georgia"/>
              </a:rPr>
              <a:t>Every guardrail checks if a claim is allowed.
None of them check if it's true.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5212080" cy="3931920"/>
          </a:xfrm>
          <a:prstGeom prst="rect">
            <a:avLst/>
          </a:prstGeom>
          <a:solidFill>
            <a:srgbClr val="FBF9F3"/>
          </a:solidFill>
          <a:ln w="1270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A37C1F"/>
                </a:solidFill>
                <a:latin typeface="Consolas"/>
              </a:rPr>
              <a:t>CUSTOMER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C1810"/>
                </a:solidFill>
                <a:latin typeface="Calibri"/>
              </a:rPr>
              <a:t>"I was charged twice for order #4471.
Please refund one of them."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9C3830"/>
                </a:solidFill>
                <a:latin typeface="Consolas"/>
              </a:rPr>
              <a:t>WHAT A CONFIG-ONLY GUARDRAIL SEES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1C1810"/>
                </a:solidFill>
                <a:latin typeface="Calibri"/>
              </a:rPr>
              <a:t>Amount ₹2,499 — inside limit. Scope, consent, PII —
all clear. Approved.
There was one charge, not two. The refund pays out
anyway, because nothing upstream ever looked at the
ledger.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2011680"/>
            <a:ext cx="5605272" cy="3931920"/>
          </a:xfrm>
          <a:prstGeom prst="rect">
            <a:avLst/>
          </a:prstGeom>
          <a:solidFill>
            <a:srgbClr val="F4EFE4"/>
          </a:solidFill>
          <a:ln w="1270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224028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A37C1F"/>
                </a:solidFill>
                <a:latin typeface="Consolas"/>
              </a:rPr>
              <a:t>THE GAP</a:t>
            </a:r>
          </a:p>
          <a:p>
            <a:pPr algn="l">
              <a:spcAft>
                <a:spcPts val="1600"/>
              </a:spcAft>
            </a:pPr>
            <a:r>
              <a:rPr sz="1350" b="0">
                <a:solidFill>
                  <a:srgbClr val="5C5342"/>
                </a:solidFill>
                <a:latin typeface="Consolas"/>
              </a:rPr>
              <a:t>claim  →  agent decides  →  config guardrails  →  money moves</a:t>
            </a:r>
          </a:p>
          <a:p>
            <a:pPr algn="l">
              <a:spcAft>
                <a:spcPts val="1600"/>
              </a:spcAft>
            </a:pPr>
            <a:r>
              <a:rPr sz="1600" b="1">
                <a:solidFill>
                  <a:srgbClr val="1C1810"/>
                </a:solidFill>
                <a:latin typeface="Georgia"/>
              </a:rPr>
              <a:t>Nothing in that chain ever asks:
"does the ledger agree with this story?"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C5342"/>
                </a:solidFill>
                <a:latin typeface="Calibri"/>
              </a:rPr>
              <a:t>Four major Indian PSPs have publicly written about this
exact scam. Their own advice: “verify the UTR against
your bank statement” — precisely the check nothing in
the stack automates.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5240"/>
          </a:xfrm>
          <a:prstGeom prst="rect">
            <a:avLst/>
          </a:prstGeom>
          <a:solidFill>
            <a:srgbClr val="D8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A37C1F"/>
                </a:solidFill>
                <a:latin typeface="Consolas"/>
              </a:rPr>
              <a:t>  ·  LEDGER ORACLE  ·  RAZORPAY AI BUILDATHON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C1810"/>
                </a:solidFill>
                <a:latin typeface="Georgia"/>
              </a:rPr>
              <a:t>A bounded agent investigates. A deterministic
function decides. The model never authorizes money.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65960"/>
            <a:ext cx="3611880" cy="2743200"/>
          </a:xfrm>
          <a:prstGeom prst="rect">
            <a:avLst/>
          </a:prstGeom>
          <a:solidFill>
            <a:srgbClr val="FBF9F3"/>
          </a:solidFill>
          <a:ln w="1270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C1810"/>
                </a:solidFill>
                <a:latin typeface="Consolas"/>
              </a:rPr>
              <a:t>STEP 1 — INVESTIGATION AGENT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C1810"/>
                </a:solidFill>
                <a:latin typeface="Consolas"/>
              </a:rPr>
              <a:t>agent.py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C5342"/>
                </a:solidFill>
                <a:latin typeface="Calibri"/>
              </a:rPr>
              <a:t>Bounded LLM. Max 5 tool calls, 2 retries
each, 30s wall clock. Out of budget →
escalate. Never hangs, never guesses.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965960"/>
            <a:ext cx="3611880" cy="2743200"/>
          </a:xfrm>
          <a:prstGeom prst="rect">
            <a:avLst/>
          </a:prstGeom>
          <a:solidFill>
            <a:srgbClr val="FBF9F3"/>
          </a:solidFill>
          <a:ln w="1270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14884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C1810"/>
                </a:solidFill>
                <a:latin typeface="Consolas"/>
              </a:rPr>
              <a:t>5 READ-ONLY TOOLS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C1810"/>
                </a:solidFill>
                <a:latin typeface="Consolas"/>
              </a:rPr>
              <a:t>tools.py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C5342"/>
                </a:solidFill>
                <a:latin typeface="Calibri"/>
              </a:rPr>
              <a:t>get_payment_by_utr, get_order_payments,
find_duplicate_captures, check_refund_history,
check_payment_status. mutates=False on every
one. No issue_refund tool exists — on purpose.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965960"/>
            <a:ext cx="3611880" cy="2743200"/>
          </a:xfrm>
          <a:prstGeom prst="rect">
            <a:avLst/>
          </a:prstGeom>
          <a:solidFill>
            <a:srgbClr val="FBF9F3"/>
          </a:solidFill>
          <a:ln w="1270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214884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A37C1F"/>
                </a:solidFill>
                <a:latin typeface="Consolas"/>
              </a:rPr>
              <a:t>STEP 2 — POLICY ENGINE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C1810"/>
                </a:solidFill>
                <a:latin typeface="Consolas"/>
              </a:rPr>
              <a:t>policy.py — decide()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C5342"/>
                </a:solidFill>
                <a:latin typeface="Calibri"/>
              </a:rPr>
              <a:t>"DECIDES. No network. No model. No
randomness." Plain comparison against
ledger evidence. Returns pass / block /
escalate.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A7A4C"/>
                </a:solidFill>
                <a:latin typeface="Consolas"/>
              </a:rPr>
              <a:t>PASS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5C5342"/>
                </a:solidFill>
                <a:latin typeface="Calibri"/>
              </a:rPr>
              <a:t>Claim matches ledger evidence within tolerance — refund authorized.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9C3830"/>
                </a:solidFill>
                <a:latin typeface="Consolas"/>
              </a:rPr>
              <a:t>BLOCK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5C5342"/>
                </a:solidFill>
                <a:latin typeface="Calibri"/>
              </a:rPr>
              <a:t>Claim contradicts the ledger — reused reference, amount mismatch, exceeds captured total.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A37C1F"/>
                </a:solidFill>
                <a:latin typeface="Consolas"/>
              </a:rPr>
              <a:t>ESCALATE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C5342"/>
                </a:solidFill>
                <a:latin typeface="Calibri"/>
              </a:rPr>
              <a:t>Evidence insufficient or in-flight — a human decides. The engine never guesses its way to a pass.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91672" cy="15240"/>
          </a:xfrm>
          <a:prstGeom prst="rect">
            <a:avLst/>
          </a:prstGeom>
          <a:solidFill>
            <a:srgbClr val="D8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A37C1F"/>
                </a:solidFill>
                <a:latin typeface="Consolas"/>
              </a:rPr>
              <a:t>  ·  LEDGER ORACLE  ·  RAZORPAY AI BUILDATHON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C1810"/>
                </a:solidFill>
                <a:latin typeface="Georgia"/>
              </a:rPr>
              <a:t>Two guards close the loop a lookup alone leaves open.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65960"/>
            <a:ext cx="5349240" cy="3931920"/>
          </a:xfrm>
          <a:prstGeom prst="rect">
            <a:avLst/>
          </a:prstGeom>
          <a:solidFill>
            <a:srgbClr val="FBF9F3"/>
          </a:solidFill>
          <a:ln w="1270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A37C1F"/>
                </a:solidFill>
                <a:latin typeface="Consolas"/>
              </a:rPr>
              <a:t>REPEAT-CLAIM ABUSE GUARD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C1810"/>
                </a:solidFill>
                <a:latin typeface="Calibri"/>
              </a:rPr>
              <a:t>3 prior claims on the same order that ended in a
genuine, terminal denial → the next automatic
attempt blocks outright, before any tool call runs.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C5342"/>
                </a:solidFill>
                <a:latin typeface="Calibri"/>
              </a:rPr>
              <a:t>Only counts denials the customer wasn't invited to
retry — an in-flight capture, a down model, or a typo
never counts against an honest customer.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1965960"/>
            <a:ext cx="5559552" cy="3931920"/>
          </a:xfrm>
          <a:prstGeom prst="rect">
            <a:avLst/>
          </a:prstGeom>
          <a:solidFill>
            <a:srgbClr val="FBF9F3"/>
          </a:solidFill>
          <a:ln w="1270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214884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A37C1F"/>
                </a:solidFill>
                <a:latin typeface="Consolas"/>
              </a:rPr>
              <a:t>REPLAY GUARD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C1810"/>
                </a:solidFill>
                <a:latin typeface="Calibri"/>
              </a:rPr>
              <a:t>The moment a claim resolves to pass, its reference is
immediately consumed. Filing the exact same claim
again blocks with REF_ALREADY_CONSUMED.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C5342"/>
                </a:solidFill>
                <a:latin typeface="Calibri"/>
              </a:rPr>
              <a:t>One refund per reference. Not infinite. Proven live in
the demo, not claimed in a slide.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5240"/>
          </a:xfrm>
          <a:prstGeom prst="rect">
            <a:avLst/>
          </a:prstGeom>
          <a:solidFill>
            <a:srgbClr val="D8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A37C1F"/>
                </a:solidFill>
                <a:latin typeface="Consolas"/>
              </a:rPr>
              <a:t>  ·  LEDGER ORACLE  ·  RAZORPAY AI BUILDATHON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C1810"/>
                </a:solidFill>
                <a:latin typeface="Georgia"/>
              </a:rPr>
              <a:t>Numbers checked before writing them down.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606040" cy="3749039"/>
          </a:xfrm>
          <a:prstGeom prst="rect">
            <a:avLst/>
          </a:prstGeom>
          <a:solidFill>
            <a:srgbClr val="FBF9F3"/>
          </a:solidFill>
          <a:ln w="1270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2240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A37C1F"/>
                </a:solidFill>
                <a:latin typeface="Consolas"/>
              </a:rPr>
              <a:t>0 / 1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5C5342"/>
                </a:solidFill>
                <a:latin typeface="Calibri"/>
              </a:rPr>
              <a:t>unsafe_pass_count on a dedicated adversarial
corpus — prompt injection, homoglyph &amp; zero-
width UTR disguises, contradictory amounts.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2011680"/>
            <a:ext cx="2606040" cy="3749039"/>
          </a:xfrm>
          <a:prstGeom prst="rect">
            <a:avLst/>
          </a:prstGeom>
          <a:solidFill>
            <a:srgbClr val="FBF9F3"/>
          </a:solidFill>
          <a:ln w="1270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2240280"/>
            <a:ext cx="2240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A37C1F"/>
                </a:solidFill>
                <a:latin typeface="Consolas"/>
              </a:rPr>
              <a:t>100%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5C5342"/>
                </a:solidFill>
                <a:latin typeface="Calibri"/>
              </a:rPr>
              <a:t>of the agent's tool allowlist is read-only by
construction — the DB connection itself can't write.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2011680"/>
            <a:ext cx="2606040" cy="3749039"/>
          </a:xfrm>
          <a:prstGeom prst="rect">
            <a:avLst/>
          </a:prstGeom>
          <a:solidFill>
            <a:srgbClr val="FBF9F3"/>
          </a:solidFill>
          <a:ln w="1270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240280"/>
            <a:ext cx="2240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A37C1F"/>
                </a:solidFill>
                <a:latin typeface="Consolas"/>
              </a:rPr>
              <a:t>138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5C5342"/>
                </a:solidFill>
                <a:latin typeface="Calibri"/>
              </a:rPr>
              <a:t>automated tests — several assert the architecture
itself, e.g. decide() makes zero network calls.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2011680"/>
            <a:ext cx="2606040" cy="3749039"/>
          </a:xfrm>
          <a:prstGeom prst="rect">
            <a:avLst/>
          </a:prstGeom>
          <a:solidFill>
            <a:srgbClr val="FBF9F3"/>
          </a:solidFill>
          <a:ln w="1270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19" y="2240280"/>
            <a:ext cx="2240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A37C1F"/>
                </a:solidFill>
                <a:latin typeface="Consolas"/>
              </a:rPr>
              <a:t>HASH-CHAINED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5C5342"/>
                </a:solidFill>
                <a:latin typeface="Calibri"/>
              </a:rPr>
              <a:t>append-only audit log. Tamper one field and the
verifier reports the exact broken event, live.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91672" cy="15240"/>
          </a:xfrm>
          <a:prstGeom prst="rect">
            <a:avLst/>
          </a:prstGeom>
          <a:solidFill>
            <a:srgbClr val="D8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A37C1F"/>
                </a:solidFill>
                <a:latin typeface="Consolas"/>
              </a:rPr>
              <a:t>  ·  LEDGER ORACLE  ·  RAZORPAY AI BUILDATHON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C1810"/>
                </a:solidFill>
                <a:latin typeface="Georgia"/>
              </a:rPr>
              <a:t>Every step below is a real write to a real database.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65960"/>
            <a:ext cx="502920" cy="822960"/>
          </a:xfrm>
          <a:prstGeom prst="rect">
            <a:avLst/>
          </a:prstGeom>
          <a:solidFill>
            <a:srgbClr val="A37C1F"/>
          </a:solidFill>
          <a:ln w="12700">
            <a:solidFill>
              <a:srgbClr val="A37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4EFE4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965960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C1810"/>
                </a:solidFill>
                <a:latin typeface="Calibri"/>
              </a:rPr>
              <a:t>Simulate a payment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C5342"/>
                </a:solidFill>
                <a:latin typeface="Calibri"/>
              </a:rPr>
              <a:t>/pay — real row lands in captures, real UTR generated. Screen says “Payment failed” anyway — the exact gap this product catches.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502920" cy="822960"/>
          </a:xfrm>
          <a:prstGeom prst="rect">
            <a:avLst/>
          </a:prstGeom>
          <a:solidFill>
            <a:srgbClr val="A37C1F"/>
          </a:solidFill>
          <a:ln w="12700">
            <a:solidFill>
              <a:srgbClr val="A37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4EFE4"/>
                </a:solidFill>
                <a:latin typeface="Consola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17520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C1810"/>
                </a:solidFill>
                <a:latin typeface="Calibri"/>
              </a:rPr>
              <a:t>File the complaint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C5342"/>
                </a:solidFill>
                <a:latin typeface="Calibri"/>
              </a:rPr>
              <a:t>One click hands the real UTR to the claim form. Agent investigates live, finds the match — pass, refund authorized.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79"/>
            <a:ext cx="502920" cy="822960"/>
          </a:xfrm>
          <a:prstGeom prst="rect">
            <a:avLst/>
          </a:prstGeom>
          <a:solidFill>
            <a:srgbClr val="A37C1F"/>
          </a:solidFill>
          <a:ln w="12700">
            <a:solidFill>
              <a:srgbClr val="A37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16051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4EFE4"/>
                </a:solidFill>
                <a:latin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69079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C1810"/>
                </a:solidFill>
                <a:latin typeface="Calibri"/>
              </a:rPr>
              <a:t>Replay the same claim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C5342"/>
                </a:solidFill>
                <a:latin typeface="Calibri"/>
              </a:rPr>
              <a:t>Blocked. REF_ALREADY_CONSUMED. One refund, not infinite.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20640"/>
            <a:ext cx="502920" cy="822960"/>
          </a:xfrm>
          <a:prstGeom prst="rect">
            <a:avLst/>
          </a:prstGeom>
          <a:solidFill>
            <a:srgbClr val="A37C1F"/>
          </a:solidFill>
          <a:ln w="12700">
            <a:solidFill>
              <a:srgbClr val="A37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21207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4EFE4"/>
                </a:solidFill>
                <a:latin typeface="Consola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120640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C1810"/>
                </a:solidFill>
                <a:latin typeface="Calibri"/>
              </a:rPr>
              <a:t>Open the admin console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C5342"/>
                </a:solidFill>
                <a:latin typeface="Calibri"/>
              </a:rPr>
              <a:t>Claim history, engine-vs-human agreement, audit-chain integrity — checkable live.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72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37C1F"/>
                </a:solidFill>
                <a:latin typeface="Consolas"/>
              </a:rPr>
              <a:t>github.com/abhinavteja123/Ledger-Oracle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